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65" r:id="rId1"/>
  </p:sldMasterIdLst>
  <p:sldIdLst>
    <p:sldId id="256" r:id="rId2"/>
    <p:sldId id="257" r:id="rId3"/>
    <p:sldId id="258" r:id="rId4"/>
    <p:sldId id="266" r:id="rId5"/>
    <p:sldId id="260" r:id="rId6"/>
    <p:sldId id="262" r:id="rId7"/>
    <p:sldId id="263" r:id="rId8"/>
    <p:sldId id="265" r:id="rId9"/>
    <p:sldId id="264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F5A847"/>
    <a:srgbClr val="00BFD1"/>
    <a:srgbClr val="96E381"/>
    <a:srgbClr val="7A81FF"/>
    <a:srgbClr val="F46528"/>
    <a:srgbClr val="0096FF"/>
    <a:srgbClr val="EE6F1F"/>
    <a:srgbClr val="DD5560"/>
    <a:srgbClr val="778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88"/>
    <p:restoredTop sz="94427"/>
  </p:normalViewPr>
  <p:slideViewPr>
    <p:cSldViewPr snapToGrid="0" snapToObjects="1">
      <p:cViewPr varScale="1">
        <p:scale>
          <a:sx n="84" d="100"/>
          <a:sy n="84" d="100"/>
        </p:scale>
        <p:origin x="44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FAA8-BE1E-B648-A322-46FFFB45C5FB}" type="datetimeFigureOut">
              <a:rPr lang="en-US" smtClean="0"/>
              <a:t>5/30/2023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F1F3308-0102-1948-9A19-26F15F50B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467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FAA8-BE1E-B648-A322-46FFFB45C5FB}" type="datetimeFigureOut">
              <a:rPr lang="en-US" smtClean="0"/>
              <a:t>5/30/2023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F3308-0102-1948-9A19-26F15F50B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784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FAA8-BE1E-B648-A322-46FFFB45C5FB}" type="datetimeFigureOut">
              <a:rPr lang="en-US" smtClean="0"/>
              <a:t>5/30/2023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F1F3308-0102-1948-9A19-26F15F50B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60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FAA8-BE1E-B648-A322-46FFFB45C5FB}" type="datetimeFigureOut">
              <a:rPr lang="en-US" smtClean="0"/>
              <a:t>5/30/2023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F1F3308-0102-1948-9A19-26F15F50B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439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FAA8-BE1E-B648-A322-46FFFB45C5FB}" type="datetimeFigureOut">
              <a:rPr lang="en-US" smtClean="0"/>
              <a:t>5/30/2023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F1F3308-0102-1948-9A19-26F15F50B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582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FAA8-BE1E-B648-A322-46FFFB45C5FB}" type="datetimeFigureOut">
              <a:rPr lang="en-US" smtClean="0"/>
              <a:t>5/30/2023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F3308-0102-1948-9A19-26F15F50B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998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FAA8-BE1E-B648-A322-46FFFB45C5FB}" type="datetimeFigureOut">
              <a:rPr lang="en-US" smtClean="0"/>
              <a:t>5/30/2023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F3308-0102-1948-9A19-26F15F50B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561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FAA8-BE1E-B648-A322-46FFFB45C5FB}" type="datetimeFigureOut">
              <a:rPr lang="en-US" smtClean="0"/>
              <a:t>5/30/2023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F3308-0102-1948-9A19-26F15F50B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289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FAA8-BE1E-B648-A322-46FFFB45C5FB}" type="datetimeFigureOut">
              <a:rPr lang="en-US" smtClean="0"/>
              <a:t>5/30/2023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F1F3308-0102-1948-9A19-26F15F50B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43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FAA8-BE1E-B648-A322-46FFFB45C5FB}" type="datetimeFigureOut">
              <a:rPr lang="en-US" smtClean="0"/>
              <a:t>5/30/2023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F1F3308-0102-1948-9A19-26F15F50B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374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FAA8-BE1E-B648-A322-46FFFB45C5FB}" type="datetimeFigureOut">
              <a:rPr lang="en-US" smtClean="0"/>
              <a:t>5/30/2023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F1F3308-0102-1948-9A19-26F15F50B98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5409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FAA8-BE1E-B648-A322-46FFFB45C5FB}" type="datetimeFigureOut">
              <a:rPr lang="en-US" smtClean="0"/>
              <a:t>5/30/2023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F1F3308-0102-1948-9A19-26F15F50B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341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FAA8-BE1E-B648-A322-46FFFB45C5FB}" type="datetimeFigureOut">
              <a:rPr lang="en-US" smtClean="0"/>
              <a:t>5/30/2023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F1F3308-0102-1948-9A19-26F15F50B98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2601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FAA8-BE1E-B648-A322-46FFFB45C5FB}" type="datetimeFigureOut">
              <a:rPr lang="en-US" smtClean="0"/>
              <a:t>5/30/2023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F1F3308-0102-1948-9A19-26F15F50B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95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FAA8-BE1E-B648-A322-46FFFB45C5FB}" type="datetimeFigureOut">
              <a:rPr lang="en-US" smtClean="0"/>
              <a:t>5/30/2023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F3308-0102-1948-9A19-26F15F50B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354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FAA8-BE1E-B648-A322-46FFFB45C5FB}" type="datetimeFigureOut">
              <a:rPr lang="en-US" smtClean="0"/>
              <a:t>5/30/2023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F3308-0102-1948-9A19-26F15F50B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566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1FAA8-BE1E-B648-A322-46FFFB45C5FB}" type="datetimeFigureOut">
              <a:rPr lang="en-US" smtClean="0"/>
              <a:t>5/30/2023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F1F3308-0102-1948-9A19-26F15F50B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851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6" r:id="rId1"/>
    <p:sldLayoutId id="2147484167" r:id="rId2"/>
    <p:sldLayoutId id="2147484168" r:id="rId3"/>
    <p:sldLayoutId id="2147484169" r:id="rId4"/>
    <p:sldLayoutId id="2147484170" r:id="rId5"/>
    <p:sldLayoutId id="2147484171" r:id="rId6"/>
    <p:sldLayoutId id="2147484172" r:id="rId7"/>
    <p:sldLayoutId id="2147484173" r:id="rId8"/>
    <p:sldLayoutId id="2147484174" r:id="rId9"/>
    <p:sldLayoutId id="2147484175" r:id="rId10"/>
    <p:sldLayoutId id="2147484176" r:id="rId11"/>
    <p:sldLayoutId id="2147484177" r:id="rId12"/>
    <p:sldLayoutId id="2147484178" r:id="rId13"/>
    <p:sldLayoutId id="2147484179" r:id="rId14"/>
    <p:sldLayoutId id="2147484180" r:id="rId15"/>
    <p:sldLayoutId id="2147484181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towardsdatascience.com/useful-sites-for-finding-datasets-for-data-analysis-tasks-1edb8f26c34d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EAE13-440E-474C-A4A6-2EC1A3CBCD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Project Preparation	</a:t>
            </a:r>
          </a:p>
        </p:txBody>
      </p:sp>
    </p:spTree>
    <p:extLst>
      <p:ext uri="{BB962C8B-B14F-4D97-AF65-F5344CB8AC3E}">
        <p14:creationId xmlns:p14="http://schemas.microsoft.com/office/powerpoint/2010/main" val="2221833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DAF80-37B6-4E5B-A64F-8BBA34FEA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Domain Types for Data Analysis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6F480-CB85-4CCE-92F2-DCC9181A79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Financial Services</a:t>
            </a:r>
          </a:p>
          <a:p>
            <a:r>
              <a:rPr lang="en-IN" dirty="0"/>
              <a:t>E-Commerce</a:t>
            </a:r>
          </a:p>
          <a:p>
            <a:r>
              <a:rPr lang="en-IN" dirty="0"/>
              <a:t>Sales</a:t>
            </a:r>
          </a:p>
          <a:p>
            <a:r>
              <a:rPr lang="en-IN" dirty="0"/>
              <a:t>Marketing</a:t>
            </a:r>
          </a:p>
          <a:p>
            <a:r>
              <a:rPr lang="en-IN" dirty="0"/>
              <a:t>Manufacturing</a:t>
            </a:r>
          </a:p>
          <a:p>
            <a:r>
              <a:rPr lang="en-IN" dirty="0"/>
              <a:t>Pharmaceuticals</a:t>
            </a:r>
          </a:p>
          <a:p>
            <a:r>
              <a:rPr lang="en-IN" dirty="0"/>
              <a:t>HR</a:t>
            </a:r>
          </a:p>
          <a:p>
            <a:r>
              <a:rPr lang="en-IN" dirty="0"/>
              <a:t>Aviation</a:t>
            </a:r>
          </a:p>
          <a:p>
            <a:r>
              <a:rPr lang="en-IN" dirty="0"/>
              <a:t>Transportation and logistics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2F368E-9436-4DF9-9844-7F578E0BA0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dirty="0"/>
              <a:t>Financial Services</a:t>
            </a:r>
          </a:p>
          <a:p>
            <a:pPr lvl="1"/>
            <a:r>
              <a:rPr lang="en-IN" dirty="0"/>
              <a:t>Banking</a:t>
            </a:r>
          </a:p>
          <a:p>
            <a:pPr lvl="1"/>
            <a:r>
              <a:rPr lang="en-IN" dirty="0"/>
              <a:t>Insurance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8080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9A87-9C83-4F5B-8967-193718D80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Search for Projects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37180D-2C45-450E-9F45-30C1076BB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Kaggle</a:t>
            </a:r>
          </a:p>
          <a:p>
            <a:r>
              <a:rPr lang="en-IN" dirty="0"/>
              <a:t>Google Dataset </a:t>
            </a:r>
          </a:p>
          <a:p>
            <a:r>
              <a:rPr lang="en-IN" dirty="0" err="1"/>
              <a:t>Github</a:t>
            </a:r>
            <a:endParaRPr lang="en-IN" dirty="0"/>
          </a:p>
          <a:p>
            <a:r>
              <a:rPr lang="en-IN" dirty="0"/>
              <a:t>Data.gov</a:t>
            </a:r>
          </a:p>
          <a:p>
            <a:r>
              <a:rPr lang="en-IN" dirty="0" err="1"/>
              <a:t>Data.world</a:t>
            </a:r>
            <a:endParaRPr lang="en-IN" dirty="0"/>
          </a:p>
          <a:p>
            <a:r>
              <a:rPr lang="en-IN" dirty="0"/>
              <a:t>BuzzFeed News</a:t>
            </a:r>
          </a:p>
          <a:p>
            <a:r>
              <a:rPr lang="en-IN" dirty="0"/>
              <a:t>FiveThirtyEight</a:t>
            </a:r>
          </a:p>
          <a:p>
            <a:r>
              <a:rPr lang="en-IN" dirty="0">
                <a:hlinkClick r:id="rId2"/>
              </a:rPr>
              <a:t>https://towardsdatascience.com/useful-sites-for-finding-datasets-for-data-analysis-tasks-1edb8f26c34d</a:t>
            </a:r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4883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6A975-34BB-4CE4-9476-362D4C6E0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2DECD-7924-4966-B51B-0FA38C891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 Key Performance Indicator is a measurable value that demonstrates how effectively a company is achieving key business objectives. </a:t>
            </a:r>
          </a:p>
          <a:p>
            <a:r>
              <a:rPr lang="en-US" sz="2000" dirty="0"/>
              <a:t>Organizations use KPIs at multiple levels to evaluate their success at reaching targets. </a:t>
            </a:r>
          </a:p>
          <a:p>
            <a:r>
              <a:rPr lang="en-US" sz="2000" dirty="0"/>
              <a:t>High-level KPIs may focus on the overall performance of the business, while low-level KPIs may focus on processes in departments such as sales, marketing, HR, support and others.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01205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5A841-3017-4D97-AE29-B109C2243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250" y="-16335"/>
            <a:ext cx="8911687" cy="829135"/>
          </a:xfrm>
        </p:spPr>
        <p:txBody>
          <a:bodyPr/>
          <a:lstStyle/>
          <a:p>
            <a:r>
              <a:rPr lang="en-IN" dirty="0"/>
              <a:t>KPIs - Sales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8D960-FCA9-4212-A756-2EEBB2CC2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640080"/>
            <a:ext cx="10464800" cy="6055360"/>
          </a:xfrm>
        </p:spPr>
        <p:txBody>
          <a:bodyPr numCol="2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1. Monthly sales growth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2. Monthly sales/new customers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3. Monthly new leads/prospects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4. Number of qualified leads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5. Resources spent on one non-paying client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6. Resources spent on one paying client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7. Customer lifetime value/customer profitability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8. Lead-to-sale conversion rate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9. Cost per lead by each channel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10. Cost of a new client by each channel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11. Hourly, daily, weekly, monthly, quarterly, and annual sales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12. Average conversion time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13. Lead-to-close rate: all channels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14. Customer turnover rate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15. Number of monthly sales demos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16. Customer engagement level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17. Number of abandoned shopping carts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18. Shopping cart abandonment rate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19. Number of monthly quotes/orders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20. Average purchase value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21. Average order value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22. Sales per representative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23. Sales by lead source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24. Inbound calls handled per representative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25. Outbound calls handled per representative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26. Average annual sales volume per customer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27. Average monthly sales volume per customer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28. Relative market share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29. Product/service usage every day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30. Value of returned goods and warranties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31. Asset turnover ratio (sales to assets)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32. Percentage of total sales from existing customers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33. Sales reps per $100k in revenue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34. Monthly sales quota attainment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35. Sales quota attainment by the sales representative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36. Number of client accounts per account manager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37. Days sales outstanding</a:t>
            </a:r>
          </a:p>
          <a:p>
            <a:pPr marL="0" indent="0">
              <a:buNone/>
            </a:pPr>
            <a:endParaRPr lang="en-IN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18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5A841-3017-4D97-AE29-B109C2243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250" y="-16335"/>
            <a:ext cx="8911687" cy="829135"/>
          </a:xfrm>
        </p:spPr>
        <p:txBody>
          <a:bodyPr/>
          <a:lstStyle/>
          <a:p>
            <a:r>
              <a:rPr lang="en-IN" dirty="0"/>
              <a:t>KPIs - Financial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8D960-FCA9-4212-A756-2EEBB2CC2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640080"/>
            <a:ext cx="10464800" cy="6055360"/>
          </a:xfrm>
        </p:spPr>
        <p:txBody>
          <a:bodyPr numCol="2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38. Net profit margin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39. Operating cash flow (OCF)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40. Current ratio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41. Quick ratio / Acid test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42. Net profit margin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43. Working capital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44. Current accounts receivable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45. Current accounts payable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46. Accounts payable turnover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47. Accounts receivable turnover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48. Accounts payable process cost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49. Accounts receivable turnover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50. Budget variance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51. Budget creation cycle time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52. Line items in the budget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53. Number of budget iterations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54. Payroll headcount ratio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55. Vendor expenses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56. Payment error rate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57. Internal audit cycle time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58. Finance error report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59. Debt to equity ratio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60. Return on equity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61. Cost of managing business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62. Resource utilization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63. Total cost of the finance function</a:t>
            </a:r>
          </a:p>
        </p:txBody>
      </p:sp>
    </p:spTree>
    <p:extLst>
      <p:ext uri="{BB962C8B-B14F-4D97-AF65-F5344CB8AC3E}">
        <p14:creationId xmlns:p14="http://schemas.microsoft.com/office/powerpoint/2010/main" val="3167950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5A841-3017-4D97-AE29-B109C2243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250" y="-16335"/>
            <a:ext cx="8911687" cy="829135"/>
          </a:xfrm>
        </p:spPr>
        <p:txBody>
          <a:bodyPr/>
          <a:lstStyle/>
          <a:p>
            <a:r>
              <a:rPr lang="en-IN" dirty="0"/>
              <a:t>KPIs - Project Management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8D960-FCA9-4212-A756-2EEBB2CC2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985520"/>
            <a:ext cx="10464800" cy="5709920"/>
          </a:xfrm>
        </p:spPr>
        <p:txBody>
          <a:bodyPr numCol="2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64. Planned value (PV)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65. Actual cost (AC)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66. Earned value (EV)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67. Cost variance (CV) (planned budget vs. actual budget)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68. Schedule variance (SV)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69. Schedule performance index (SPI)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70. Cost performance index (CPI)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71. Planned hours of work vs. actual situation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72. Overdue project tasks / crossed deadlines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73. % of overdue project tasks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74. Missed milestones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75. Percentage of projects completed on time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76. Percentage of cancelled projects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77. Percentage of projects on budget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78. Number of budget iterations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79. Percentage of tasks completed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80. Project resource utilization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81. Cost of managing processes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82. Return on investment (ROI)</a:t>
            </a:r>
          </a:p>
        </p:txBody>
      </p:sp>
    </p:spTree>
    <p:extLst>
      <p:ext uri="{BB962C8B-B14F-4D97-AF65-F5344CB8AC3E}">
        <p14:creationId xmlns:p14="http://schemas.microsoft.com/office/powerpoint/2010/main" val="1418893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5A841-3017-4D97-AE29-B109C2243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250" y="-16335"/>
            <a:ext cx="8911687" cy="829135"/>
          </a:xfrm>
        </p:spPr>
        <p:txBody>
          <a:bodyPr/>
          <a:lstStyle/>
          <a:p>
            <a:r>
              <a:rPr lang="en-IN" dirty="0"/>
              <a:t>KPIs -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8D960-FCA9-4212-A756-2EEBB2CC2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985520"/>
            <a:ext cx="10464800" cy="5709920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83. Monthly new leads/prospects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84. Qualified leads per month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85. Marketing qualified leads (MQL)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86. Sales-accepted leads (SAL)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87. Sales qualified leads (SQL)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88. Cost per lead generated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89. Net promoter score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90. Cost per conversion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91. Cost per conversion by channel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92. Average time of conversion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93. Retention rate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94. Attrition rate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95. Monthly website traffic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96. Traffic from organic search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97. Returning vs. new visitors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98. Visits per channel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99. Average time on page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100. Click-through rate on web pages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101. Pages per visit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102. Conversion rate for call-to-action content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103. Inbound links to website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104. Traffic from organic search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105. New leads from organic search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106. New leads from organic search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107. Number of unique keywords that drive traffic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108. Keywords in top 10 SERP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109. Rank increase of target keywords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110. Conversion rate per keyword</a:t>
            </a:r>
          </a:p>
        </p:txBody>
      </p:sp>
    </p:spTree>
    <p:extLst>
      <p:ext uri="{BB962C8B-B14F-4D97-AF65-F5344CB8AC3E}">
        <p14:creationId xmlns:p14="http://schemas.microsoft.com/office/powerpoint/2010/main" val="2847967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5A841-3017-4D97-AE29-B109C2243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250" y="-16335"/>
            <a:ext cx="8911687" cy="829135"/>
          </a:xfrm>
        </p:spPr>
        <p:txBody>
          <a:bodyPr/>
          <a:lstStyle/>
          <a:p>
            <a:r>
              <a:rPr lang="en-IN" dirty="0"/>
              <a:t>KPIs -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8D960-FCA9-4212-A756-2EEBB2CC2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985520"/>
            <a:ext cx="10464800" cy="5709920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111. Page authority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112. Google PageRank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113. Volume of traffic from video content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114. Leads &amp; conversions from paid advertising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115. Number of monthly PPC campaigns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116. Cost per acquisition (CPA) &amp; cost per conversion (CPC)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117. Click-through rate on PPC advertising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118. Traffic from social media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119. Number of leads from social media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120. Number of conversions from social media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121. Conversion rate for social media leads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122. Managed audience size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123. Engagement rate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124. Social media mentions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125. Social media ROI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126. Content quality on blog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127. Number of monthly blog visits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128. Blog articles published this month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129. E-books published this month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130. Infographics published this month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131. ROI per content type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132. Web traffic from PR campaigns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133. Number of clippings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134. Calls from PR campaigns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135. Media impressions from PR campaigns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136. PR ROI</a:t>
            </a:r>
          </a:p>
        </p:txBody>
      </p:sp>
    </p:spTree>
    <p:extLst>
      <p:ext uri="{BB962C8B-B14F-4D97-AF65-F5344CB8AC3E}">
        <p14:creationId xmlns:p14="http://schemas.microsoft.com/office/powerpoint/2010/main" val="192869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6DA63-54C4-4CCE-9FD2-E058B9268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Dashboards &amp; Charts</a:t>
            </a:r>
          </a:p>
        </p:txBody>
      </p:sp>
      <p:pic>
        <p:nvPicPr>
          <p:cNvPr id="1026" name="Picture 2" descr="Chapter 4 Dashboard Sketch">
            <a:extLst>
              <a:ext uri="{FF2B5EF4-FFF2-40B4-BE49-F238E27FC236}">
                <a16:creationId xmlns:a16="http://schemas.microsoft.com/office/drawing/2014/main" id="{2519B7B4-0827-4ED1-943D-1E49248DD66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647" y="1692581"/>
            <a:ext cx="5763945" cy="3472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8E0C9B4-FD5D-41A7-AE67-8850AFF39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1" y="1689174"/>
            <a:ext cx="4541520" cy="3406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3774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997</TotalTime>
  <Words>1028</Words>
  <Application>Microsoft Office PowerPoint</Application>
  <PresentationFormat>Widescreen</PresentationFormat>
  <Paragraphs>169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Wisp</vt:lpstr>
      <vt:lpstr>Project Preparation </vt:lpstr>
      <vt:lpstr>Domain Types for Data Analysis Projects</vt:lpstr>
      <vt:lpstr>Data Search for Projects</vt:lpstr>
      <vt:lpstr>KPI</vt:lpstr>
      <vt:lpstr>KPIs - Sales</vt:lpstr>
      <vt:lpstr>KPIs - Financial</vt:lpstr>
      <vt:lpstr>KPIs - Project Management </vt:lpstr>
      <vt:lpstr>KPIs - Marketing</vt:lpstr>
      <vt:lpstr>KPIs - Marketing</vt:lpstr>
      <vt:lpstr>Dashboards &amp; Charts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Swapnajeet</cp:lastModifiedBy>
  <cp:revision>115</cp:revision>
  <dcterms:created xsi:type="dcterms:W3CDTF">2016-03-23T17:22:32Z</dcterms:created>
  <dcterms:modified xsi:type="dcterms:W3CDTF">2023-05-30T16:38:50Z</dcterms:modified>
</cp:coreProperties>
</file>